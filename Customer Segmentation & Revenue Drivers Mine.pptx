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5" r:id="rId2"/>
    <p:sldId id="257" r:id="rId3"/>
    <p:sldId id="267" r:id="rId4"/>
    <p:sldId id="263" r:id="rId5"/>
    <p:sldId id="264" r:id="rId6"/>
    <p:sldId id="266" r:id="rId7"/>
    <p:sldId id="271" r:id="rId8"/>
    <p:sldId id="273" r:id="rId9"/>
    <p:sldId id="274" r:id="rId10"/>
    <p:sldId id="272" r:id="rId11"/>
    <p:sldId id="262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B5E489-8D99-486A-9D28-C62C6684FB12}" v="4" dt="2026-08-30T14:23:29.521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6" autoAdjust="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utisuman@outlook.com" userId="b1a9e8e3e302b914" providerId="LiveId" clId="{792EA9D2-DCB4-4F6A-909C-CFDD20A85C83}"/>
    <pc:docChg chg="custSel addSld delSld modSld sldOrd">
      <pc:chgData name="masutisuman@outlook.com" userId="b1a9e8e3e302b914" providerId="LiveId" clId="{792EA9D2-DCB4-4F6A-909C-CFDD20A85C83}" dt="2026-08-31T14:11:34.353" v="781"/>
      <pc:docMkLst>
        <pc:docMk/>
      </pc:docMkLst>
      <pc:sldChg chg="modSp mod ord">
        <pc:chgData name="masutisuman@outlook.com" userId="b1a9e8e3e302b914" providerId="LiveId" clId="{792EA9D2-DCB4-4F6A-909C-CFDD20A85C83}" dt="2026-08-26T11:47:26.681" v="650" actId="255"/>
        <pc:sldMkLst>
          <pc:docMk/>
          <pc:sldMk cId="106904919" sldId="261"/>
        </pc:sldMkLst>
        <pc:spChg chg="mod">
          <ac:chgData name="masutisuman@outlook.com" userId="b1a9e8e3e302b914" providerId="LiveId" clId="{792EA9D2-DCB4-4F6A-909C-CFDD20A85C83}" dt="2026-08-26T11:46:54.505" v="645"/>
          <ac:spMkLst>
            <pc:docMk/>
            <pc:sldMk cId="106904919" sldId="261"/>
            <ac:spMk id="2" creationId="{00000000-0000-0000-0000-000000000000}"/>
          </ac:spMkLst>
        </pc:spChg>
        <pc:spChg chg="mod">
          <ac:chgData name="masutisuman@outlook.com" userId="b1a9e8e3e302b914" providerId="LiveId" clId="{792EA9D2-DCB4-4F6A-909C-CFDD20A85C83}" dt="2026-08-26T11:47:26.681" v="650" actId="255"/>
          <ac:spMkLst>
            <pc:docMk/>
            <pc:sldMk cId="106904919" sldId="261"/>
            <ac:spMk id="3" creationId="{00000000-0000-0000-0000-000000000000}"/>
          </ac:spMkLst>
        </pc:spChg>
      </pc:sldChg>
      <pc:sldChg chg="addSp delSp modSp mod ord">
        <pc:chgData name="masutisuman@outlook.com" userId="b1a9e8e3e302b914" providerId="LiveId" clId="{792EA9D2-DCB4-4F6A-909C-CFDD20A85C83}" dt="2026-08-26T11:46:17.918" v="642" actId="1076"/>
        <pc:sldMkLst>
          <pc:docMk/>
          <pc:sldMk cId="1476019738" sldId="262"/>
        </pc:sldMkLst>
        <pc:spChg chg="mod">
          <ac:chgData name="masutisuman@outlook.com" userId="b1a9e8e3e302b914" providerId="LiveId" clId="{792EA9D2-DCB4-4F6A-909C-CFDD20A85C83}" dt="2026-08-26T11:42:51.599" v="607"/>
          <ac:spMkLst>
            <pc:docMk/>
            <pc:sldMk cId="1476019738" sldId="262"/>
            <ac:spMk id="2" creationId="{00000000-0000-0000-0000-000000000000}"/>
          </ac:spMkLst>
        </pc:spChg>
        <pc:spChg chg="add mod">
          <ac:chgData name="masutisuman@outlook.com" userId="b1a9e8e3e302b914" providerId="LiveId" clId="{792EA9D2-DCB4-4F6A-909C-CFDD20A85C83}" dt="2026-08-26T11:45:19.483" v="634" actId="14100"/>
          <ac:spMkLst>
            <pc:docMk/>
            <pc:sldMk cId="1476019738" sldId="262"/>
            <ac:spMk id="12" creationId="{22AED7BD-80D3-D260-8FC7-9BF4031D552D}"/>
          </ac:spMkLst>
        </pc:spChg>
        <pc:spChg chg="add mod">
          <ac:chgData name="masutisuman@outlook.com" userId="b1a9e8e3e302b914" providerId="LiveId" clId="{792EA9D2-DCB4-4F6A-909C-CFDD20A85C83}" dt="2026-08-26T11:45:14.582" v="633" actId="14100"/>
          <ac:spMkLst>
            <pc:docMk/>
            <pc:sldMk cId="1476019738" sldId="262"/>
            <ac:spMk id="13" creationId="{DA230891-73B0-D3B4-72B1-BD8459588D39}"/>
          </ac:spMkLst>
        </pc:spChg>
        <pc:spChg chg="add mod">
          <ac:chgData name="masutisuman@outlook.com" userId="b1a9e8e3e302b914" providerId="LiveId" clId="{792EA9D2-DCB4-4F6A-909C-CFDD20A85C83}" dt="2026-08-26T11:46:17.918" v="642" actId="1076"/>
          <ac:spMkLst>
            <pc:docMk/>
            <pc:sldMk cId="1476019738" sldId="262"/>
            <ac:spMk id="14" creationId="{1DA8E7B8-6B5E-A0A7-7EE6-D3FAB78A9CAC}"/>
          </ac:spMkLst>
        </pc:spChg>
        <pc:picChg chg="add mod">
          <ac:chgData name="masutisuman@outlook.com" userId="b1a9e8e3e302b914" providerId="LiveId" clId="{792EA9D2-DCB4-4F6A-909C-CFDD20A85C83}" dt="2026-08-26T11:43:22.965" v="613" actId="1076"/>
          <ac:picMkLst>
            <pc:docMk/>
            <pc:sldMk cId="1476019738" sldId="262"/>
            <ac:picMk id="7" creationId="{5065D2F3-E722-C9E3-29D8-B99D2D740C44}"/>
          </ac:picMkLst>
        </pc:picChg>
        <pc:picChg chg="add mod">
          <ac:chgData name="masutisuman@outlook.com" userId="b1a9e8e3e302b914" providerId="LiveId" clId="{792EA9D2-DCB4-4F6A-909C-CFDD20A85C83}" dt="2026-08-26T11:43:17.977" v="612" actId="1076"/>
          <ac:picMkLst>
            <pc:docMk/>
            <pc:sldMk cId="1476019738" sldId="262"/>
            <ac:picMk id="9" creationId="{6480EC31-8C02-5F5A-1B16-8615295EEDA7}"/>
          </ac:picMkLst>
        </pc:picChg>
        <pc:picChg chg="add mod">
          <ac:chgData name="masutisuman@outlook.com" userId="b1a9e8e3e302b914" providerId="LiveId" clId="{792EA9D2-DCB4-4F6A-909C-CFDD20A85C83}" dt="2026-08-26T11:43:12.592" v="611" actId="1076"/>
          <ac:picMkLst>
            <pc:docMk/>
            <pc:sldMk cId="1476019738" sldId="262"/>
            <ac:picMk id="11" creationId="{CDD69FD8-73F7-CC68-B527-84A389E54D59}"/>
          </ac:picMkLst>
        </pc:picChg>
      </pc:sldChg>
      <pc:sldChg chg="addSp delSp modSp mod">
        <pc:chgData name="masutisuman@outlook.com" userId="b1a9e8e3e302b914" providerId="LiveId" clId="{792EA9D2-DCB4-4F6A-909C-CFDD20A85C83}" dt="2026-08-26T10:37:51.531" v="169" actId="1076"/>
        <pc:sldMkLst>
          <pc:docMk/>
          <pc:sldMk cId="2475092730" sldId="263"/>
        </pc:sldMkLst>
        <pc:spChg chg="mod">
          <ac:chgData name="masutisuman@outlook.com" userId="b1a9e8e3e302b914" providerId="LiveId" clId="{792EA9D2-DCB4-4F6A-909C-CFDD20A85C83}" dt="2026-08-26T10:19:05.361" v="0"/>
          <ac:spMkLst>
            <pc:docMk/>
            <pc:sldMk cId="2475092730" sldId="263"/>
            <ac:spMk id="2" creationId="{00000000-0000-0000-0000-000000000000}"/>
          </ac:spMkLst>
        </pc:spChg>
        <pc:spChg chg="mod">
          <ac:chgData name="masutisuman@outlook.com" userId="b1a9e8e3e302b914" providerId="LiveId" clId="{792EA9D2-DCB4-4F6A-909C-CFDD20A85C83}" dt="2026-08-26T10:31:07.259" v="82" actId="14100"/>
          <ac:spMkLst>
            <pc:docMk/>
            <pc:sldMk cId="2475092730" sldId="263"/>
            <ac:spMk id="3" creationId="{00000000-0000-0000-0000-000000000000}"/>
          </ac:spMkLst>
        </pc:spChg>
        <pc:spChg chg="add mod">
          <ac:chgData name="masutisuman@outlook.com" userId="b1a9e8e3e302b914" providerId="LiveId" clId="{792EA9D2-DCB4-4F6A-909C-CFDD20A85C83}" dt="2026-08-26T10:33:58.139" v="154" actId="14100"/>
          <ac:spMkLst>
            <pc:docMk/>
            <pc:sldMk cId="2475092730" sldId="263"/>
            <ac:spMk id="11" creationId="{8D966CAE-2ABA-02CB-15FF-9C26C5514A00}"/>
          </ac:spMkLst>
        </pc:spChg>
        <pc:picChg chg="add mod">
          <ac:chgData name="masutisuman@outlook.com" userId="b1a9e8e3e302b914" providerId="LiveId" clId="{792EA9D2-DCB4-4F6A-909C-CFDD20A85C83}" dt="2026-08-26T10:25:36.857" v="35" actId="14100"/>
          <ac:picMkLst>
            <pc:docMk/>
            <pc:sldMk cId="2475092730" sldId="263"/>
            <ac:picMk id="8" creationId="{01798A17-D05C-59B0-46CC-6634332A4796}"/>
          </ac:picMkLst>
        </pc:picChg>
        <pc:picChg chg="add mod">
          <ac:chgData name="masutisuman@outlook.com" userId="b1a9e8e3e302b914" providerId="LiveId" clId="{792EA9D2-DCB4-4F6A-909C-CFDD20A85C83}" dt="2026-08-26T10:36:27.023" v="164" actId="1076"/>
          <ac:picMkLst>
            <pc:docMk/>
            <pc:sldMk cId="2475092730" sldId="263"/>
            <ac:picMk id="10" creationId="{E7A5203C-C363-0A16-96CC-D72699B29EB9}"/>
          </ac:picMkLst>
        </pc:picChg>
        <pc:picChg chg="add mod">
          <ac:chgData name="masutisuman@outlook.com" userId="b1a9e8e3e302b914" providerId="LiveId" clId="{792EA9D2-DCB4-4F6A-909C-CFDD20A85C83}" dt="2026-08-26T10:36:01.108" v="161" actId="14100"/>
          <ac:picMkLst>
            <pc:docMk/>
            <pc:sldMk cId="2475092730" sldId="263"/>
            <ac:picMk id="13" creationId="{E7477CF1-E9F7-B15A-32D4-D18FD043F3B5}"/>
          </ac:picMkLst>
        </pc:picChg>
        <pc:picChg chg="add mod">
          <ac:chgData name="masutisuman@outlook.com" userId="b1a9e8e3e302b914" providerId="LiveId" clId="{792EA9D2-DCB4-4F6A-909C-CFDD20A85C83}" dt="2026-08-26T10:37:51.531" v="169" actId="1076"/>
          <ac:picMkLst>
            <pc:docMk/>
            <pc:sldMk cId="2475092730" sldId="263"/>
            <ac:picMk id="15" creationId="{2B447B47-8E52-F185-BFDB-131D8F8CF067}"/>
          </ac:picMkLst>
        </pc:picChg>
      </pc:sldChg>
      <pc:sldChg chg="addSp delSp modSp mod">
        <pc:chgData name="masutisuman@outlook.com" userId="b1a9e8e3e302b914" providerId="LiveId" clId="{792EA9D2-DCB4-4F6A-909C-CFDD20A85C83}" dt="2026-08-26T12:18:27.630" v="694" actId="1076"/>
        <pc:sldMkLst>
          <pc:docMk/>
          <pc:sldMk cId="2761515851" sldId="264"/>
        </pc:sldMkLst>
        <pc:spChg chg="mod">
          <ac:chgData name="masutisuman@outlook.com" userId="b1a9e8e3e302b914" providerId="LiveId" clId="{792EA9D2-DCB4-4F6A-909C-CFDD20A85C83}" dt="2026-08-26T12:02:47.089" v="675" actId="1076"/>
          <ac:spMkLst>
            <pc:docMk/>
            <pc:sldMk cId="2761515851" sldId="264"/>
            <ac:spMk id="2" creationId="{00000000-0000-0000-0000-000000000000}"/>
          </ac:spMkLst>
        </pc:spChg>
        <pc:spChg chg="add mod">
          <ac:chgData name="masutisuman@outlook.com" userId="b1a9e8e3e302b914" providerId="LiveId" clId="{792EA9D2-DCB4-4F6A-909C-CFDD20A85C83}" dt="2026-08-26T12:03:03.360" v="677" actId="14100"/>
          <ac:spMkLst>
            <pc:docMk/>
            <pc:sldMk cId="2761515851" sldId="264"/>
            <ac:spMk id="6" creationId="{4E7E9F7B-E057-52D3-7229-476342F51C78}"/>
          </ac:spMkLst>
        </pc:spChg>
        <pc:picChg chg="add mod modCrop">
          <ac:chgData name="masutisuman@outlook.com" userId="b1a9e8e3e302b914" providerId="LiveId" clId="{792EA9D2-DCB4-4F6A-909C-CFDD20A85C83}" dt="2026-08-26T12:06:03.502" v="684" actId="1076"/>
          <ac:picMkLst>
            <pc:docMk/>
            <pc:sldMk cId="2761515851" sldId="264"/>
            <ac:picMk id="8" creationId="{ACE6150B-836A-87DD-440A-0333A39EB77F}"/>
          </ac:picMkLst>
        </pc:picChg>
        <pc:picChg chg="add mod">
          <ac:chgData name="masutisuman@outlook.com" userId="b1a9e8e3e302b914" providerId="LiveId" clId="{792EA9D2-DCB4-4F6A-909C-CFDD20A85C83}" dt="2026-08-26T12:18:27.630" v="694" actId="1076"/>
          <ac:picMkLst>
            <pc:docMk/>
            <pc:sldMk cId="2761515851" sldId="264"/>
            <ac:picMk id="12" creationId="{0035CA64-C57A-4595-3CF0-66E9637DB39C}"/>
          </ac:picMkLst>
        </pc:picChg>
      </pc:sldChg>
      <pc:sldChg chg="modSp mod">
        <pc:chgData name="masutisuman@outlook.com" userId="b1a9e8e3e302b914" providerId="LiveId" clId="{792EA9D2-DCB4-4F6A-909C-CFDD20A85C83}" dt="2026-08-26T12:54:49.436" v="745" actId="255"/>
        <pc:sldMkLst>
          <pc:docMk/>
          <pc:sldMk cId="2362296366" sldId="265"/>
        </pc:sldMkLst>
        <pc:spChg chg="mod">
          <ac:chgData name="masutisuman@outlook.com" userId="b1a9e8e3e302b914" providerId="LiveId" clId="{792EA9D2-DCB4-4F6A-909C-CFDD20A85C83}" dt="2026-08-26T12:54:49.436" v="745" actId="255"/>
          <ac:spMkLst>
            <pc:docMk/>
            <pc:sldMk cId="2362296366" sldId="265"/>
            <ac:spMk id="3" creationId="{00000000-0000-0000-0000-000000000000}"/>
          </ac:spMkLst>
        </pc:spChg>
      </pc:sldChg>
      <pc:sldChg chg="addSp delSp modSp mod">
        <pc:chgData name="masutisuman@outlook.com" userId="b1a9e8e3e302b914" providerId="LiveId" clId="{792EA9D2-DCB4-4F6A-909C-CFDD20A85C83}" dt="2026-08-26T12:27:17.043" v="705" actId="207"/>
        <pc:sldMkLst>
          <pc:docMk/>
          <pc:sldMk cId="3229171051" sldId="266"/>
        </pc:sldMkLst>
        <pc:spChg chg="mod">
          <ac:chgData name="masutisuman@outlook.com" userId="b1a9e8e3e302b914" providerId="LiveId" clId="{792EA9D2-DCB4-4F6A-909C-CFDD20A85C83}" dt="2026-08-26T10:44:37.169" v="207"/>
          <ac:spMkLst>
            <pc:docMk/>
            <pc:sldMk cId="3229171051" sldId="266"/>
            <ac:spMk id="2" creationId="{00000000-0000-0000-0000-000000000000}"/>
          </ac:spMkLst>
        </pc:spChg>
        <pc:graphicFrameChg chg="add mod modGraphic">
          <ac:chgData name="masutisuman@outlook.com" userId="b1a9e8e3e302b914" providerId="LiveId" clId="{792EA9D2-DCB4-4F6A-909C-CFDD20A85C83}" dt="2026-08-26T12:27:17.043" v="705" actId="207"/>
          <ac:graphicFrameMkLst>
            <pc:docMk/>
            <pc:sldMk cId="3229171051" sldId="266"/>
            <ac:graphicFrameMk id="9" creationId="{DC1D30B7-F95F-963C-9A83-6C5524311E57}"/>
          </ac:graphicFrameMkLst>
        </pc:graphicFrameChg>
      </pc:sldChg>
      <pc:sldChg chg="addSp delSp modSp mod">
        <pc:chgData name="masutisuman@outlook.com" userId="b1a9e8e3e302b914" providerId="LiveId" clId="{792EA9D2-DCB4-4F6A-909C-CFDD20A85C83}" dt="2026-08-26T12:38:44.591" v="726" actId="113"/>
        <pc:sldMkLst>
          <pc:docMk/>
          <pc:sldMk cId="452733939" sldId="267"/>
        </pc:sldMkLst>
        <pc:spChg chg="mod">
          <ac:chgData name="masutisuman@outlook.com" userId="b1a9e8e3e302b914" providerId="LiveId" clId="{792EA9D2-DCB4-4F6A-909C-CFDD20A85C83}" dt="2026-08-26T10:28:56.256" v="37" actId="1076"/>
          <ac:spMkLst>
            <pc:docMk/>
            <pc:sldMk cId="452733939" sldId="267"/>
            <ac:spMk id="3" creationId="{BB8C3042-ECFA-CF8B-C137-1FC36C126E7F}"/>
          </ac:spMkLst>
        </pc:spChg>
        <pc:spChg chg="mod">
          <ac:chgData name="masutisuman@outlook.com" userId="b1a9e8e3e302b914" providerId="LiveId" clId="{792EA9D2-DCB4-4F6A-909C-CFDD20A85C83}" dt="2026-08-26T12:37:17.030" v="723" actId="113"/>
          <ac:spMkLst>
            <pc:docMk/>
            <pc:sldMk cId="452733939" sldId="267"/>
            <ac:spMk id="13" creationId="{F481E944-04FE-C193-5DD3-EA575DF96CBA}"/>
          </ac:spMkLst>
        </pc:spChg>
        <pc:spChg chg="mod">
          <ac:chgData name="masutisuman@outlook.com" userId="b1a9e8e3e302b914" providerId="LiveId" clId="{792EA9D2-DCB4-4F6A-909C-CFDD20A85C83}" dt="2026-08-26T12:38:44.591" v="726" actId="113"/>
          <ac:spMkLst>
            <pc:docMk/>
            <pc:sldMk cId="452733939" sldId="267"/>
            <ac:spMk id="14" creationId="{0E7AB19E-E751-6949-BD56-4F08C2455AEC}"/>
          </ac:spMkLst>
        </pc:spChg>
        <pc:picChg chg="add mod">
          <ac:chgData name="masutisuman@outlook.com" userId="b1a9e8e3e302b914" providerId="LiveId" clId="{792EA9D2-DCB4-4F6A-909C-CFDD20A85C83}" dt="2026-08-26T12:28:47.822" v="708" actId="1076"/>
          <ac:picMkLst>
            <pc:docMk/>
            <pc:sldMk cId="452733939" sldId="267"/>
            <ac:picMk id="10" creationId="{A07DE123-47FB-F8F9-AD7E-6AEB937B383C}"/>
          </ac:picMkLst>
        </pc:picChg>
      </pc:sldChg>
      <pc:sldChg chg="addSp delSp modSp add mod">
        <pc:chgData name="masutisuman@outlook.com" userId="b1a9e8e3e302b914" providerId="LiveId" clId="{792EA9D2-DCB4-4F6A-909C-CFDD20A85C83}" dt="2026-08-26T11:48:42.973" v="658" actId="20577"/>
        <pc:sldMkLst>
          <pc:docMk/>
          <pc:sldMk cId="1901109555" sldId="271"/>
        </pc:sldMkLst>
        <pc:spChg chg="mod">
          <ac:chgData name="masutisuman@outlook.com" userId="b1a9e8e3e302b914" providerId="LiveId" clId="{792EA9D2-DCB4-4F6A-909C-CFDD20A85C83}" dt="2026-08-26T11:03:04.218" v="283"/>
          <ac:spMkLst>
            <pc:docMk/>
            <pc:sldMk cId="1901109555" sldId="271"/>
            <ac:spMk id="2" creationId="{6F7E7B79-8F82-7B68-5047-7609567AA58A}"/>
          </ac:spMkLst>
        </pc:spChg>
        <pc:spChg chg="add mod">
          <ac:chgData name="masutisuman@outlook.com" userId="b1a9e8e3e302b914" providerId="LiveId" clId="{792EA9D2-DCB4-4F6A-909C-CFDD20A85C83}" dt="2026-08-26T11:16:01.697" v="332" actId="14861"/>
          <ac:spMkLst>
            <pc:docMk/>
            <pc:sldMk cId="1901109555" sldId="271"/>
            <ac:spMk id="3" creationId="{5F8C89FC-F48A-BD06-B4C6-29A4C89E0555}"/>
          </ac:spMkLst>
        </pc:spChg>
        <pc:spChg chg="add mod">
          <ac:chgData name="masutisuman@outlook.com" userId="b1a9e8e3e302b914" providerId="LiveId" clId="{792EA9D2-DCB4-4F6A-909C-CFDD20A85C83}" dt="2026-08-26T11:15:00.796" v="306" actId="14100"/>
          <ac:spMkLst>
            <pc:docMk/>
            <pc:sldMk cId="1901109555" sldId="271"/>
            <ac:spMk id="4" creationId="{F247B7CB-0DB2-5ADB-EF1F-7D24CC8FB9B5}"/>
          </ac:spMkLst>
        </pc:spChg>
        <pc:spChg chg="add mod">
          <ac:chgData name="masutisuman@outlook.com" userId="b1a9e8e3e302b914" providerId="LiveId" clId="{792EA9D2-DCB4-4F6A-909C-CFDD20A85C83}" dt="2026-08-26T11:48:42.973" v="658" actId="20577"/>
          <ac:spMkLst>
            <pc:docMk/>
            <pc:sldMk cId="1901109555" sldId="271"/>
            <ac:spMk id="5" creationId="{FA42E489-7081-233F-7595-C181A02613F3}"/>
          </ac:spMkLst>
        </pc:spChg>
      </pc:sldChg>
      <pc:sldChg chg="addSp delSp modSp add mod setBg">
        <pc:chgData name="masutisuman@outlook.com" userId="b1a9e8e3e302b914" providerId="LiveId" clId="{792EA9D2-DCB4-4F6A-909C-CFDD20A85C83}" dt="2026-08-26T11:36:36.418" v="572" actId="14100"/>
        <pc:sldMkLst>
          <pc:docMk/>
          <pc:sldMk cId="1425621792" sldId="272"/>
        </pc:sldMkLst>
        <pc:spChg chg="mod">
          <ac:chgData name="masutisuman@outlook.com" userId="b1a9e8e3e302b914" providerId="LiveId" clId="{792EA9D2-DCB4-4F6A-909C-CFDD20A85C83}" dt="2026-08-26T11:19:40.849" v="354"/>
          <ac:spMkLst>
            <pc:docMk/>
            <pc:sldMk cId="1425621792" sldId="272"/>
            <ac:spMk id="2" creationId="{CDC335CF-C23D-55B2-CB48-3C6740F1A1E5}"/>
          </ac:spMkLst>
        </pc:spChg>
        <pc:spChg chg="add mod">
          <ac:chgData name="masutisuman@outlook.com" userId="b1a9e8e3e302b914" providerId="LiveId" clId="{792EA9D2-DCB4-4F6A-909C-CFDD20A85C83}" dt="2026-08-26T11:26:14.562" v="516" actId="1076"/>
          <ac:spMkLst>
            <pc:docMk/>
            <pc:sldMk cId="1425621792" sldId="272"/>
            <ac:spMk id="6" creationId="{E4F9D468-3622-C612-64DB-EC3628A03C74}"/>
          </ac:spMkLst>
        </pc:spChg>
        <pc:spChg chg="add mod">
          <ac:chgData name="masutisuman@outlook.com" userId="b1a9e8e3e302b914" providerId="LiveId" clId="{792EA9D2-DCB4-4F6A-909C-CFDD20A85C83}" dt="2026-08-26T11:27:14.360" v="524" actId="255"/>
          <ac:spMkLst>
            <pc:docMk/>
            <pc:sldMk cId="1425621792" sldId="272"/>
            <ac:spMk id="11" creationId="{180BE683-FE9B-A814-71CC-43DF59B8124A}"/>
          </ac:spMkLst>
        </pc:spChg>
        <pc:spChg chg="add mod">
          <ac:chgData name="masutisuman@outlook.com" userId="b1a9e8e3e302b914" providerId="LiveId" clId="{792EA9D2-DCB4-4F6A-909C-CFDD20A85C83}" dt="2026-08-26T11:28:20.035" v="534" actId="1076"/>
          <ac:spMkLst>
            <pc:docMk/>
            <pc:sldMk cId="1425621792" sldId="272"/>
            <ac:spMk id="12" creationId="{E33EE345-2C80-1BF7-1A0B-F3B3F2444720}"/>
          </ac:spMkLst>
        </pc:spChg>
        <pc:spChg chg="add mod">
          <ac:chgData name="masutisuman@outlook.com" userId="b1a9e8e3e302b914" providerId="LiveId" clId="{792EA9D2-DCB4-4F6A-909C-CFDD20A85C83}" dt="2026-08-26T11:29:17.403" v="544" actId="1076"/>
          <ac:spMkLst>
            <pc:docMk/>
            <pc:sldMk cId="1425621792" sldId="272"/>
            <ac:spMk id="13" creationId="{65DD49D0-1A49-1D4F-4417-49FC7CDACB0C}"/>
          </ac:spMkLst>
        </pc:spChg>
        <pc:picChg chg="add mod">
          <ac:chgData name="masutisuman@outlook.com" userId="b1a9e8e3e302b914" providerId="LiveId" clId="{792EA9D2-DCB4-4F6A-909C-CFDD20A85C83}" dt="2026-08-26T11:34:56.599" v="565" actId="1076"/>
          <ac:picMkLst>
            <pc:docMk/>
            <pc:sldMk cId="1425621792" sldId="272"/>
            <ac:picMk id="8" creationId="{20C248FD-90A3-8B0B-B839-A5BDF9D85696}"/>
          </ac:picMkLst>
        </pc:picChg>
        <pc:picChg chg="add mod">
          <ac:chgData name="masutisuman@outlook.com" userId="b1a9e8e3e302b914" providerId="LiveId" clId="{792EA9D2-DCB4-4F6A-909C-CFDD20A85C83}" dt="2026-08-26T11:26:22.695" v="518" actId="1076"/>
          <ac:picMkLst>
            <pc:docMk/>
            <pc:sldMk cId="1425621792" sldId="272"/>
            <ac:picMk id="10" creationId="{571E5E6B-CF4A-E23B-CDC6-9689448BB9E9}"/>
          </ac:picMkLst>
        </pc:picChg>
        <pc:picChg chg="add mod">
          <ac:chgData name="masutisuman@outlook.com" userId="b1a9e8e3e302b914" providerId="LiveId" clId="{792EA9D2-DCB4-4F6A-909C-CFDD20A85C83}" dt="2026-08-26T11:31:21.974" v="550" actId="1076"/>
          <ac:picMkLst>
            <pc:docMk/>
            <pc:sldMk cId="1425621792" sldId="272"/>
            <ac:picMk id="15" creationId="{1E82AC0C-A4A2-66E7-B4AE-72E6E127D8F0}"/>
          </ac:picMkLst>
        </pc:picChg>
        <pc:picChg chg="add mod">
          <ac:chgData name="masutisuman@outlook.com" userId="b1a9e8e3e302b914" providerId="LiveId" clId="{792EA9D2-DCB4-4F6A-909C-CFDD20A85C83}" dt="2026-08-26T11:34:24.388" v="563" actId="14100"/>
          <ac:picMkLst>
            <pc:docMk/>
            <pc:sldMk cId="1425621792" sldId="272"/>
            <ac:picMk id="21" creationId="{00F730DB-D87F-34CF-D5FE-80EA28125244}"/>
          </ac:picMkLst>
        </pc:picChg>
        <pc:picChg chg="add mod">
          <ac:chgData name="masutisuman@outlook.com" userId="b1a9e8e3e302b914" providerId="LiveId" clId="{792EA9D2-DCB4-4F6A-909C-CFDD20A85C83}" dt="2026-08-26T11:36:36.418" v="572" actId="14100"/>
          <ac:picMkLst>
            <pc:docMk/>
            <pc:sldMk cId="1425621792" sldId="272"/>
            <ac:picMk id="25" creationId="{5A9961A4-EECA-5920-75A2-63FB6F03AFA9}"/>
          </ac:picMkLst>
        </pc:picChg>
      </pc:sldChg>
      <pc:sldChg chg="addSp delSp modSp add mod">
        <pc:chgData name="masutisuman@outlook.com" userId="b1a9e8e3e302b914" providerId="LiveId" clId="{792EA9D2-DCB4-4F6A-909C-CFDD20A85C83}" dt="2026-08-26T11:40:42.144" v="597" actId="14100"/>
        <pc:sldMkLst>
          <pc:docMk/>
          <pc:sldMk cId="959724064" sldId="273"/>
        </pc:sldMkLst>
        <pc:spChg chg="mod">
          <ac:chgData name="masutisuman@outlook.com" userId="b1a9e8e3e302b914" providerId="LiveId" clId="{792EA9D2-DCB4-4F6A-909C-CFDD20A85C83}" dt="2026-08-26T11:37:44.671" v="578"/>
          <ac:spMkLst>
            <pc:docMk/>
            <pc:sldMk cId="959724064" sldId="273"/>
            <ac:spMk id="2" creationId="{7D6A9683-E354-455C-3137-97BC4BFCBA56}"/>
          </ac:spMkLst>
        </pc:spChg>
        <pc:spChg chg="mod">
          <ac:chgData name="masutisuman@outlook.com" userId="b1a9e8e3e302b914" providerId="LiveId" clId="{792EA9D2-DCB4-4F6A-909C-CFDD20A85C83}" dt="2026-08-26T11:40:22.811" v="595" actId="14100"/>
          <ac:spMkLst>
            <pc:docMk/>
            <pc:sldMk cId="959724064" sldId="273"/>
            <ac:spMk id="5" creationId="{C44FA033-A2C8-693D-6707-0D85FC9B60B7}"/>
          </ac:spMkLst>
        </pc:spChg>
        <pc:picChg chg="add mod">
          <ac:chgData name="masutisuman@outlook.com" userId="b1a9e8e3e302b914" providerId="LiveId" clId="{792EA9D2-DCB4-4F6A-909C-CFDD20A85C83}" dt="2026-08-26T11:40:42.144" v="597" actId="14100"/>
          <ac:picMkLst>
            <pc:docMk/>
            <pc:sldMk cId="959724064" sldId="273"/>
            <ac:picMk id="9" creationId="{784A8A5A-8810-18F5-58A6-C60D1C9F7AB3}"/>
          </ac:picMkLst>
        </pc:picChg>
      </pc:sldChg>
      <pc:sldChg chg="delSp modSp add mod ord">
        <pc:chgData name="masutisuman@outlook.com" userId="b1a9e8e3e302b914" providerId="LiveId" clId="{792EA9D2-DCB4-4F6A-909C-CFDD20A85C83}" dt="2026-08-31T14:11:34.353" v="781"/>
        <pc:sldMkLst>
          <pc:docMk/>
          <pc:sldMk cId="28876789" sldId="274"/>
        </pc:sldMkLst>
        <pc:spChg chg="mod">
          <ac:chgData name="masutisuman@outlook.com" userId="b1a9e8e3e302b914" providerId="LiveId" clId="{792EA9D2-DCB4-4F6A-909C-CFDD20A85C83}" dt="2026-08-30T14:22:30.994" v="761"/>
          <ac:spMkLst>
            <pc:docMk/>
            <pc:sldMk cId="28876789" sldId="274"/>
            <ac:spMk id="2" creationId="{A375F074-2899-B026-E6CB-17CFF72E7891}"/>
          </ac:spMkLst>
        </pc:spChg>
        <pc:spChg chg="del">
          <ac:chgData name="masutisuman@outlook.com" userId="b1a9e8e3e302b914" providerId="LiveId" clId="{792EA9D2-DCB4-4F6A-909C-CFDD20A85C83}" dt="2026-08-30T14:21:42.353" v="760" actId="21"/>
          <ac:spMkLst>
            <pc:docMk/>
            <pc:sldMk cId="28876789" sldId="274"/>
            <ac:spMk id="6" creationId="{E4160648-C78B-5C0C-4132-3F758C6DB798}"/>
          </ac:spMkLst>
        </pc:spChg>
        <pc:spChg chg="mod">
          <ac:chgData name="masutisuman@outlook.com" userId="b1a9e8e3e302b914" providerId="LiveId" clId="{792EA9D2-DCB4-4F6A-909C-CFDD20A85C83}" dt="2026-08-30T14:24:57.763" v="779" actId="1076"/>
          <ac:spMkLst>
            <pc:docMk/>
            <pc:sldMk cId="28876789" sldId="274"/>
            <ac:spMk id="11" creationId="{A8128C0E-B6AD-5373-0AEF-0FE9D1D60C65}"/>
          </ac:spMkLst>
        </pc:spChg>
        <pc:spChg chg="del mod">
          <ac:chgData name="masutisuman@outlook.com" userId="b1a9e8e3e302b914" providerId="LiveId" clId="{792EA9D2-DCB4-4F6A-909C-CFDD20A85C83}" dt="2026-08-30T14:22:46.202" v="764" actId="21"/>
          <ac:spMkLst>
            <pc:docMk/>
            <pc:sldMk cId="28876789" sldId="274"/>
            <ac:spMk id="12" creationId="{B6AAE71B-22D8-7A25-1E4A-26D8BE110C45}"/>
          </ac:spMkLst>
        </pc:spChg>
        <pc:spChg chg="del mod">
          <ac:chgData name="masutisuman@outlook.com" userId="b1a9e8e3e302b914" providerId="LiveId" clId="{792EA9D2-DCB4-4F6A-909C-CFDD20A85C83}" dt="2026-08-30T14:22:59.782" v="768" actId="21"/>
          <ac:spMkLst>
            <pc:docMk/>
            <pc:sldMk cId="28876789" sldId="274"/>
            <ac:spMk id="13" creationId="{80D94379-FF52-7C6C-99D9-D82E9C5D46C5}"/>
          </ac:spMkLst>
        </pc:spChg>
        <pc:picChg chg="del">
          <ac:chgData name="masutisuman@outlook.com" userId="b1a9e8e3e302b914" providerId="LiveId" clId="{792EA9D2-DCB4-4F6A-909C-CFDD20A85C83}" dt="2026-08-30T14:22:38.544" v="762" actId="21"/>
          <ac:picMkLst>
            <pc:docMk/>
            <pc:sldMk cId="28876789" sldId="274"/>
            <ac:picMk id="8" creationId="{156B4740-D042-A215-0A7E-406D88BA752F}"/>
          </ac:picMkLst>
        </pc:picChg>
        <pc:picChg chg="del">
          <ac:chgData name="masutisuman@outlook.com" userId="b1a9e8e3e302b914" providerId="LiveId" clId="{792EA9D2-DCB4-4F6A-909C-CFDD20A85C83}" dt="2026-08-30T14:22:54.352" v="766" actId="21"/>
          <ac:picMkLst>
            <pc:docMk/>
            <pc:sldMk cId="28876789" sldId="274"/>
            <ac:picMk id="10" creationId="{17ADFEFA-C27E-1E85-012D-7B393984C7D0}"/>
          </ac:picMkLst>
        </pc:picChg>
        <pc:picChg chg="del">
          <ac:chgData name="masutisuman@outlook.com" userId="b1a9e8e3e302b914" providerId="LiveId" clId="{792EA9D2-DCB4-4F6A-909C-CFDD20A85C83}" dt="2026-08-30T14:23:07.830" v="770" actId="21"/>
          <ac:picMkLst>
            <pc:docMk/>
            <pc:sldMk cId="28876789" sldId="274"/>
            <ac:picMk id="15" creationId="{E7407AE2-38B1-991F-EE09-4457FAEAE5E7}"/>
          </ac:picMkLst>
        </pc:picChg>
        <pc:picChg chg="del">
          <ac:chgData name="masutisuman@outlook.com" userId="b1a9e8e3e302b914" providerId="LiveId" clId="{792EA9D2-DCB4-4F6A-909C-CFDD20A85C83}" dt="2026-08-30T14:22:50.332" v="765" actId="21"/>
          <ac:picMkLst>
            <pc:docMk/>
            <pc:sldMk cId="28876789" sldId="274"/>
            <ac:picMk id="21" creationId="{3DC669AD-4ABF-9D4E-103C-0609A3C2E0A4}"/>
          </ac:picMkLst>
        </pc:picChg>
        <pc:picChg chg="del">
          <ac:chgData name="masutisuman@outlook.com" userId="b1a9e8e3e302b914" providerId="LiveId" clId="{792EA9D2-DCB4-4F6A-909C-CFDD20A85C83}" dt="2026-08-30T14:23:04.450" v="769" actId="21"/>
          <ac:picMkLst>
            <pc:docMk/>
            <pc:sldMk cId="28876789" sldId="274"/>
            <ac:picMk id="25" creationId="{F28998A9-50F5-4EA4-4E67-6BDB38826003}"/>
          </ac:picMkLst>
        </pc:picChg>
      </pc:sldChg>
      <pc:sldChg chg="addSp delSp modSp add del mod ord">
        <pc:chgData name="masutisuman@outlook.com" userId="b1a9e8e3e302b914" providerId="LiveId" clId="{792EA9D2-DCB4-4F6A-909C-CFDD20A85C83}" dt="2026-08-30T14:21:30.740" v="758" actId="2696"/>
        <pc:sldMkLst>
          <pc:docMk/>
          <pc:sldMk cId="1195938212" sldId="274"/>
        </pc:sldMkLst>
        <pc:spChg chg="del mod">
          <ac:chgData name="masutisuman@outlook.com" userId="b1a9e8e3e302b914" providerId="LiveId" clId="{792EA9D2-DCB4-4F6A-909C-CFDD20A85C83}" dt="2026-08-30T14:20:57.580" v="752" actId="21"/>
          <ac:spMkLst>
            <pc:docMk/>
            <pc:sldMk cId="1195938212" sldId="274"/>
            <ac:spMk id="2" creationId="{47B7F9C5-E2F4-B052-32CB-A550DC3C80AC}"/>
          </ac:spMkLst>
        </pc:spChg>
        <pc:spChg chg="del mod">
          <ac:chgData name="masutisuman@outlook.com" userId="b1a9e8e3e302b914" providerId="LiveId" clId="{792EA9D2-DCB4-4F6A-909C-CFDD20A85C83}" dt="2026-08-30T14:21:18.026" v="757" actId="21"/>
          <ac:spMkLst>
            <pc:docMk/>
            <pc:sldMk cId="1195938212" sldId="274"/>
            <ac:spMk id="3" creationId="{E668B1C3-1BC4-E6A4-1DFC-CE9F3FF595E1}"/>
          </ac:spMkLst>
        </pc:spChg>
        <pc:spChg chg="add del mod">
          <ac:chgData name="masutisuman@outlook.com" userId="b1a9e8e3e302b914" providerId="LiveId" clId="{792EA9D2-DCB4-4F6A-909C-CFDD20A85C83}" dt="2026-08-30T14:21:06.293" v="754" actId="21"/>
          <ac:spMkLst>
            <pc:docMk/>
            <pc:sldMk cId="1195938212" sldId="274"/>
            <ac:spMk id="5" creationId="{C074BCFD-E097-7CF8-BE93-6C3CE4F1EE1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8/31/2026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8/31/2026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8/31/2026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39180"/>
            <a:ext cx="9601200" cy="2743200"/>
          </a:xfrm>
        </p:spPr>
        <p:txBody>
          <a:bodyPr/>
          <a:lstStyle/>
          <a:p>
            <a:r>
              <a:rPr lang="en-IN" dirty="0"/>
              <a:t>Customer Segmentation &amp; Revenue Drivers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390535"/>
            <a:ext cx="9962535" cy="566141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IN" sz="7200" dirty="0"/>
              <a:t>An analytical evaluation of customer demographics, high-value retention, product category performance, and strategic churn prevention.</a:t>
            </a:r>
            <a:endParaRPr lang="en-IN" sz="72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29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400" dirty="0"/>
              <a:t>Problem Statement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981201"/>
            <a:ext cx="4948084" cy="380999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    </a:t>
            </a:r>
            <a:r>
              <a:rPr lang="en-IN" b="1" dirty="0">
                <a:solidFill>
                  <a:schemeClr val="accent1"/>
                </a:solidFill>
              </a:rPr>
              <a:t>Selected Business Problem</a:t>
            </a:r>
          </a:p>
          <a:p>
            <a:pPr marL="0" indent="0">
              <a:buNone/>
            </a:pPr>
            <a:r>
              <a:rPr lang="en-IN" sz="1800" dirty="0"/>
              <a:t>"Which customer segments and product categories drive revenue, and how do high-value vs. at-risk customers differ?"</a:t>
            </a:r>
          </a:p>
          <a:p>
            <a:pPr marL="0" indent="0">
              <a:buNone/>
            </a:pPr>
            <a:r>
              <a:rPr lang="en-IN" sz="1800" dirty="0"/>
              <a:t>Understanding revenue concentration is vital to operational profitability. This project identifies high-performing segments while pinpointing structural risks from lost or inactive high-value buyers.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40B49C-6DA4-5476-DF8E-B3B7A3A89E52}"/>
              </a:ext>
            </a:extLst>
          </p:cNvPr>
          <p:cNvSpPr txBox="1">
            <a:spLocks/>
          </p:cNvSpPr>
          <p:nvPr/>
        </p:nvSpPr>
        <p:spPr>
          <a:xfrm>
            <a:off x="6472084" y="1981200"/>
            <a:ext cx="4948084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b="1" dirty="0"/>
              <a:t>    </a:t>
            </a:r>
            <a:r>
              <a:rPr lang="en-IN" b="1" dirty="0">
                <a:solidFill>
                  <a:schemeClr val="accent1"/>
                </a:solidFill>
              </a:rPr>
              <a:t>Business Justification</a:t>
            </a:r>
          </a:p>
          <a:p>
            <a:pPr marL="0" indent="0">
              <a:buNone/>
            </a:pPr>
            <a:r>
              <a:rPr lang="en-IN" sz="1800" dirty="0"/>
              <a:t>Evaluating raw sales data (1,000 transactions) allows us to move away from uniform marketing and transition to tailored, high-ROI retention efforts.</a:t>
            </a:r>
          </a:p>
          <a:p>
            <a:pPr marL="0" indent="0">
              <a:buNone/>
            </a:pPr>
            <a:r>
              <a:rPr lang="en-IN" sz="1800" dirty="0"/>
              <a:t>By distinguishing high-margin categories and high-frequency buyers, business leaders can optimize inventory and reduce customer acquisition costs.</a:t>
            </a:r>
          </a:p>
        </p:txBody>
      </p:sp>
      <p:pic>
        <p:nvPicPr>
          <p:cNvPr id="7" name="Graphic 6" descr="Bullseye with solid fill">
            <a:extLst>
              <a:ext uri="{FF2B5EF4-FFF2-40B4-BE49-F238E27FC236}">
                <a16:creationId xmlns:a16="http://schemas.microsoft.com/office/drawing/2014/main" id="{5CDAF319-135E-EC2E-914A-42F4F5CA4F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400" y="1981200"/>
            <a:ext cx="351503" cy="351503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A1B7C28C-C6C5-74C0-DD09-1CD79E678E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7671" y="1983658"/>
            <a:ext cx="349045" cy="34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2445" y="0"/>
            <a:ext cx="9601200" cy="1142385"/>
          </a:xfrm>
        </p:spPr>
        <p:txBody>
          <a:bodyPr>
            <a:normAutofit/>
          </a:bodyPr>
          <a:lstStyle/>
          <a:p>
            <a:r>
              <a:rPr lang="en-IN" sz="3400" dirty="0"/>
              <a:t>Dataset Overview &amp; Key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C3042-ECFA-CF8B-C137-1FC36C126E7F}"/>
              </a:ext>
            </a:extLst>
          </p:cNvPr>
          <p:cNvSpPr txBox="1">
            <a:spLocks/>
          </p:cNvSpPr>
          <p:nvPr/>
        </p:nvSpPr>
        <p:spPr>
          <a:xfrm>
            <a:off x="877529" y="2881005"/>
            <a:ext cx="4948084" cy="38099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</a:rPr>
              <a:t>Data Cleaning &amp; Integrity Highlights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800" b="1" dirty="0"/>
              <a:t>Missing Values:</a:t>
            </a:r>
            <a:r>
              <a:rPr lang="en-IN" sz="1800" dirty="0"/>
              <a:t> Handled 20 missing Age records via median imputation (41 yrs); missing City records tagged as 'Unknown'.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800" b="1" dirty="0"/>
              <a:t>Feature Engineering:</a:t>
            </a:r>
            <a:r>
              <a:rPr lang="en-IN" sz="1800" dirty="0"/>
              <a:t> Created Age Groups (Youth &lt;30, Adult 30–50, Senior 50+) for </a:t>
            </a:r>
            <a:r>
              <a:rPr lang="en-IN" sz="1800" dirty="0" err="1"/>
              <a:t>behavioral</a:t>
            </a:r>
            <a:r>
              <a:rPr lang="en-IN" sz="1800" dirty="0"/>
              <a:t> cohort analysis.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800" b="1" dirty="0"/>
              <a:t>No Duplicates:</a:t>
            </a:r>
            <a:r>
              <a:rPr lang="en-IN" sz="1800" dirty="0"/>
              <a:t> Verified zero identical row duplications across 12 tracking variables.</a:t>
            </a:r>
          </a:p>
          <a:p>
            <a:endParaRPr lang="en-US" dirty="0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BD101E70-3BB2-CC0A-5BAC-810809D35B3A}"/>
              </a:ext>
            </a:extLst>
          </p:cNvPr>
          <p:cNvSpPr/>
          <p:nvPr/>
        </p:nvSpPr>
        <p:spPr>
          <a:xfrm>
            <a:off x="1022555" y="1327356"/>
            <a:ext cx="2064774" cy="914400"/>
          </a:xfrm>
          <a:prstGeom prst="round2Diag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E09FA37B-DDDD-87D0-6BA9-A201173C1033}"/>
              </a:ext>
            </a:extLst>
          </p:cNvPr>
          <p:cNvSpPr/>
          <p:nvPr/>
        </p:nvSpPr>
        <p:spPr>
          <a:xfrm>
            <a:off x="3760839" y="1327356"/>
            <a:ext cx="2064774" cy="914400"/>
          </a:xfrm>
          <a:prstGeom prst="round2Diag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9EE28A92-CB87-7605-D7D4-BBB6FAC62F6E}"/>
              </a:ext>
            </a:extLst>
          </p:cNvPr>
          <p:cNvSpPr/>
          <p:nvPr/>
        </p:nvSpPr>
        <p:spPr>
          <a:xfrm>
            <a:off x="6499123" y="1327356"/>
            <a:ext cx="2064774" cy="914400"/>
          </a:xfrm>
          <a:prstGeom prst="round2Diag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F936716D-DFD4-3401-20A5-F887D1B5BA28}"/>
              </a:ext>
            </a:extLst>
          </p:cNvPr>
          <p:cNvSpPr/>
          <p:nvPr/>
        </p:nvSpPr>
        <p:spPr>
          <a:xfrm>
            <a:off x="9237407" y="1327356"/>
            <a:ext cx="2064774" cy="914400"/>
          </a:xfrm>
          <a:prstGeom prst="round2Diag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17F029-8265-6B3C-A0D4-589D790F3042}"/>
              </a:ext>
            </a:extLst>
          </p:cNvPr>
          <p:cNvSpPr txBox="1"/>
          <p:nvPr/>
        </p:nvSpPr>
        <p:spPr>
          <a:xfrm>
            <a:off x="1674068" y="141522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1,000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81E944-04FE-C193-5DD3-EA575DF96CBA}"/>
              </a:ext>
            </a:extLst>
          </p:cNvPr>
          <p:cNvSpPr txBox="1"/>
          <p:nvPr/>
        </p:nvSpPr>
        <p:spPr>
          <a:xfrm>
            <a:off x="4193082" y="141522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₹13.94 Cr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7AB19E-E751-6949-BD56-4F08C2455AEC}"/>
              </a:ext>
            </a:extLst>
          </p:cNvPr>
          <p:cNvSpPr txBox="1"/>
          <p:nvPr/>
        </p:nvSpPr>
        <p:spPr>
          <a:xfrm>
            <a:off x="6939040" y="1415224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₹139.40K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AAAF6F-4BCA-12E0-65F9-0EE8D8E557F6}"/>
              </a:ext>
            </a:extLst>
          </p:cNvPr>
          <p:cNvSpPr txBox="1"/>
          <p:nvPr/>
        </p:nvSpPr>
        <p:spPr>
          <a:xfrm>
            <a:off x="9953040" y="141522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5.44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D1868-873F-9BDA-181D-40C219FE1487}"/>
              </a:ext>
            </a:extLst>
          </p:cNvPr>
          <p:cNvSpPr txBox="1"/>
          <p:nvPr/>
        </p:nvSpPr>
        <p:spPr>
          <a:xfrm>
            <a:off x="1404763" y="1794998"/>
            <a:ext cx="1382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cap="all" dirty="0"/>
              <a:t>TOTAL Orders</a:t>
            </a:r>
            <a:endParaRPr lang="en-IN" sz="1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C3D1D4-2743-F1C4-0CDE-08D22CF557DD}"/>
              </a:ext>
            </a:extLst>
          </p:cNvPr>
          <p:cNvSpPr txBox="1"/>
          <p:nvPr/>
        </p:nvSpPr>
        <p:spPr>
          <a:xfrm>
            <a:off x="3758316" y="1794997"/>
            <a:ext cx="2067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cap="all" dirty="0"/>
              <a:t>Total Gross </a:t>
            </a:r>
            <a:r>
              <a:rPr lang="en-IN" sz="1200" b="1" cap="all" dirty="0" err="1"/>
              <a:t>RevenuE</a:t>
            </a:r>
            <a:endParaRPr lang="en-IN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A34987-3869-E4CE-3416-D45BBAAA7DB5}"/>
              </a:ext>
            </a:extLst>
          </p:cNvPr>
          <p:cNvSpPr txBox="1"/>
          <p:nvPr/>
        </p:nvSpPr>
        <p:spPr>
          <a:xfrm>
            <a:off x="6489590" y="1794997"/>
            <a:ext cx="2083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cap="all" dirty="0"/>
              <a:t>Average Order Value</a:t>
            </a:r>
            <a:endParaRPr lang="en-IN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41ABFC-CBF0-F6BF-ADB4-8FD11F084271}"/>
              </a:ext>
            </a:extLst>
          </p:cNvPr>
          <p:cNvSpPr txBox="1"/>
          <p:nvPr/>
        </p:nvSpPr>
        <p:spPr>
          <a:xfrm>
            <a:off x="9285485" y="1784556"/>
            <a:ext cx="1968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cap="all" dirty="0" err="1"/>
              <a:t>Avg</a:t>
            </a:r>
            <a:r>
              <a:rPr lang="en-IN" sz="1200" b="1" cap="all" dirty="0"/>
              <a:t> Units per Order</a:t>
            </a:r>
            <a:endParaRPr lang="en-IN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7DE123-47FB-F8F9-AD7E-6AEB937B3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613" y="2894368"/>
            <a:ext cx="5743428" cy="284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3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Demographic Revenue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761" y="1981198"/>
            <a:ext cx="4810433" cy="1627241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1800" b="1" dirty="0"/>
              <a:t>Balanced Demographics, Key Differences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600" dirty="0"/>
              <a:t>Customer distribution shows an almost identical split between male and female buyers across tier-1 and tier-2 Indian cities.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798A17-D05C-59B0-46CC-6634332A4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651" y="1981198"/>
            <a:ext cx="5715001" cy="381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A5203C-C363-0A16-96CC-D72699B29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81" y="4436239"/>
            <a:ext cx="403121" cy="4031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966CAE-2ABA-02CB-15FF-9C26C5514A00}"/>
              </a:ext>
            </a:extLst>
          </p:cNvPr>
          <p:cNvSpPr txBox="1"/>
          <p:nvPr/>
        </p:nvSpPr>
        <p:spPr>
          <a:xfrm>
            <a:off x="1295400" y="3608439"/>
            <a:ext cx="49382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Gender Split:</a:t>
            </a:r>
            <a:r>
              <a:rPr lang="en-IN" sz="1600" dirty="0"/>
              <a:t> Males account for 51.1% of   transactions   while Females account for 48.9%.</a:t>
            </a:r>
          </a:p>
          <a:p>
            <a:endParaRPr lang="en-IN" sz="1600" b="1" dirty="0"/>
          </a:p>
          <a:p>
            <a:r>
              <a:rPr lang="en-IN" sz="1600" b="1" dirty="0"/>
              <a:t>Age Groups:</a:t>
            </a:r>
            <a:r>
              <a:rPr lang="en-IN" sz="1600" dirty="0"/>
              <a:t> Adults (30–50) represent the bulk order volume, closely followed by Seniors (50+).</a:t>
            </a:r>
          </a:p>
          <a:p>
            <a:endParaRPr lang="en-IN" sz="1600" b="1" dirty="0"/>
          </a:p>
          <a:p>
            <a:r>
              <a:rPr lang="en-IN" sz="1600" b="1" dirty="0"/>
              <a:t>Geographic Parity:</a:t>
            </a:r>
            <a:r>
              <a:rPr lang="en-IN" sz="1600" dirty="0"/>
              <a:t> Revenue is evenly distributed   across major hubs (Patna 13.5%, Kolkata 13.3%, Mumbai 13.1%, Hyderabad 12.5%, Delhi 12.5%).</a:t>
            </a:r>
          </a:p>
          <a:p>
            <a:endParaRPr lang="en-IN" dirty="0"/>
          </a:p>
        </p:txBody>
      </p:sp>
      <p:pic>
        <p:nvPicPr>
          <p:cNvPr id="13" name="Graphic 12" descr="Marker with solid fill">
            <a:extLst>
              <a:ext uri="{FF2B5EF4-FFF2-40B4-BE49-F238E27FC236}">
                <a16:creationId xmlns:a16="http://schemas.microsoft.com/office/drawing/2014/main" id="{E7477CF1-E9F7-B15A-32D4-D18FD043F3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81" y="5113440"/>
            <a:ext cx="403121" cy="403121"/>
          </a:xfrm>
          <a:prstGeom prst="rect">
            <a:avLst/>
          </a:prstGeom>
        </p:spPr>
      </p:pic>
      <p:pic>
        <p:nvPicPr>
          <p:cNvPr id="15" name="Graphic 14" descr="User with solid fill">
            <a:extLst>
              <a:ext uri="{FF2B5EF4-FFF2-40B4-BE49-F238E27FC236}">
                <a16:creationId xmlns:a16="http://schemas.microsoft.com/office/drawing/2014/main" id="{2B447B47-8E52-F185-BFDB-131D8F8CF0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142" y="3687379"/>
            <a:ext cx="334960" cy="33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9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844" y="-108154"/>
            <a:ext cx="9601200" cy="1142385"/>
          </a:xfrm>
        </p:spPr>
        <p:txBody>
          <a:bodyPr/>
          <a:lstStyle/>
          <a:p>
            <a:r>
              <a:rPr lang="en-IN" dirty="0"/>
              <a:t>Category Revenue Contribution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7E9F7B-E057-52D3-7229-476342F51C78}"/>
              </a:ext>
            </a:extLst>
          </p:cNvPr>
          <p:cNvSpPr/>
          <p:nvPr/>
        </p:nvSpPr>
        <p:spPr>
          <a:xfrm>
            <a:off x="1086464" y="5191432"/>
            <a:ext cx="10019071" cy="806246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tx1"/>
                </a:solidFill>
              </a:rPr>
              <a:t>Takeaway:</a:t>
            </a:r>
            <a:r>
              <a:rPr lang="en-IN" sz="1600" dirty="0">
                <a:solidFill>
                  <a:schemeClr val="tx1"/>
                </a:solidFill>
              </a:rPr>
              <a:t> High unit-price items in </a:t>
            </a:r>
            <a:r>
              <a:rPr lang="en-IN" sz="1600" b="1" dirty="0">
                <a:solidFill>
                  <a:schemeClr val="tx1"/>
                </a:solidFill>
              </a:rPr>
              <a:t>Electronics</a:t>
            </a:r>
            <a:r>
              <a:rPr lang="en-IN" sz="1600" dirty="0">
                <a:solidFill>
                  <a:schemeClr val="tx1"/>
                </a:solidFill>
              </a:rPr>
              <a:t> (e.g., Mobiles, Laptops) and high volume in </a:t>
            </a:r>
            <a:r>
              <a:rPr lang="en-IN" sz="1600" b="1" dirty="0">
                <a:solidFill>
                  <a:schemeClr val="tx1"/>
                </a:solidFill>
              </a:rPr>
              <a:t>Education</a:t>
            </a:r>
            <a:r>
              <a:rPr lang="en-IN" sz="1600" dirty="0">
                <a:solidFill>
                  <a:schemeClr val="tx1"/>
                </a:solidFill>
              </a:rPr>
              <a:t> (Books/Courses) drive over 51% of gross company top-line revenue.</a:t>
            </a:r>
            <a:endParaRPr lang="en-IN" sz="1600" dirty="0"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E6150B-836A-87DD-440A-0333A39EB7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5"/>
          <a:stretch>
            <a:fillRect/>
          </a:stretch>
        </p:blipFill>
        <p:spPr>
          <a:xfrm flipH="1">
            <a:off x="-1165136" y="6191250"/>
            <a:ext cx="1322452" cy="666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35CA64-C57A-4595-3CF0-66E9637DB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692" y="1127728"/>
            <a:ext cx="8209504" cy="406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1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High-Value vs. At-Risk Customers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C1D30B7-F95F-963C-9A83-6C5524311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38179"/>
              </p:ext>
            </p:extLst>
          </p:nvPr>
        </p:nvGraphicFramePr>
        <p:xfrm>
          <a:off x="1295400" y="2148840"/>
          <a:ext cx="9601200" cy="34747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404809210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857950878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567577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Customer Attribute</a:t>
                      </a:r>
                      <a:endParaRPr lang="en-IN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High-Value Champions (Top 20%)</a:t>
                      </a:r>
                      <a:endParaRPr lang="en-IN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Google Sans Text"/>
                        </a:rPr>
                        <a:t>At-Risk / Inactive Customers</a:t>
                      </a:r>
                      <a:endParaRPr lang="en-IN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905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Avg</a:t>
                      </a: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Order Value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₹285,000+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&lt; ₹45,000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288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Primary Categories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Electronics, Premium Education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Low-margin Grocery / Single Items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587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Basket Size (Quantity)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7 to 10 units per basket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 to 3 units per basket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729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Recency &amp; Frequency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Frequent orders, high tenure engagement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Lapsed purchases (&gt; 120 days)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528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Revenue Impact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Generates 47.4% of overall revenue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High churn vulnerability, low margin contribution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240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17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C315-A4FB-7E89-4B66-911E168DD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7B79-8F82-7B68-5047-7609567AA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Revenue Concentration Principle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F8C89FC-F48A-BD06-B4C6-29A4C89E0555}"/>
              </a:ext>
            </a:extLst>
          </p:cNvPr>
          <p:cNvSpPr/>
          <p:nvPr/>
        </p:nvSpPr>
        <p:spPr>
          <a:xfrm>
            <a:off x="1295400" y="2654709"/>
            <a:ext cx="3323303" cy="234991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  <a:effectLst>
            <a:softEdge rad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47B7CB-0DB2-5ADB-EF1F-7D24CC8FB9B5}"/>
              </a:ext>
            </a:extLst>
          </p:cNvPr>
          <p:cNvSpPr txBox="1"/>
          <p:nvPr/>
        </p:nvSpPr>
        <p:spPr>
          <a:xfrm>
            <a:off x="2067231" y="3053818"/>
            <a:ext cx="2101645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300" b="1" dirty="0">
                <a:solidFill>
                  <a:schemeClr val="accent1">
                    <a:lumMod val="50000"/>
                  </a:schemeClr>
                </a:solidFill>
              </a:rPr>
              <a:t>68%</a:t>
            </a:r>
          </a:p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Total Revenue Concentration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42E489-7081-233F-7595-C181A02613F3}"/>
              </a:ext>
            </a:extLst>
          </p:cNvPr>
          <p:cNvSpPr txBox="1"/>
          <p:nvPr/>
        </p:nvSpPr>
        <p:spPr>
          <a:xfrm>
            <a:off x="4940707" y="2676792"/>
            <a:ext cx="6363689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Pareto Effect in Customer Base</a:t>
            </a:r>
          </a:p>
          <a:p>
            <a:endParaRPr lang="en-IN" b="1" dirty="0"/>
          </a:p>
          <a:p>
            <a:r>
              <a:rPr lang="en-IN" sz="1500" dirty="0"/>
              <a:t>Data indicates that roughly </a:t>
            </a:r>
            <a:r>
              <a:rPr lang="en-IN" sz="1500" b="1" dirty="0"/>
              <a:t>20% of premium customer accounts deliver 68% of cumulative revenues</a:t>
            </a:r>
            <a:r>
              <a:rPr lang="en-IN" sz="1500" dirty="0"/>
              <a:t>.</a:t>
            </a:r>
          </a:p>
          <a:p>
            <a:endParaRPr lang="en-IN" sz="1500" dirty="0"/>
          </a:p>
          <a:p>
            <a:r>
              <a:rPr lang="en-IN" sz="1500" dirty="0"/>
              <a:t>These buyers bundle multi-quantity orders in Electronics and Education categories. Losing even a small percentage of this high-value cohort severely impacts bottom-line performance compared to losing low-basket standard buyers.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110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9838C-3B5F-7020-013A-B013D39AE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A9683-E354-455C-3137-97BC4BFCB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Retention Strategy Roadmap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FA033-A2C8-693D-6707-0D85FC9B60B7}"/>
              </a:ext>
            </a:extLst>
          </p:cNvPr>
          <p:cNvSpPr txBox="1"/>
          <p:nvPr/>
        </p:nvSpPr>
        <p:spPr>
          <a:xfrm>
            <a:off x="1295400" y="2391656"/>
            <a:ext cx="5134897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dirty="0"/>
              <a:t>Proactive Churn Prevention:</a:t>
            </a:r>
            <a:r>
              <a:rPr lang="en-IN" sz="1600" dirty="0"/>
              <a:t> Monitor basket-frequency drops to flag accounts drifting into the "At-Risk" threshold before they churn completely.</a:t>
            </a:r>
          </a:p>
          <a:p>
            <a:pPr lvl="0"/>
            <a:endParaRPr lang="en-IN" sz="1600" b="1" dirty="0"/>
          </a:p>
          <a:p>
            <a:pPr lvl="0"/>
            <a:r>
              <a:rPr lang="en-IN" sz="1600" b="1" dirty="0"/>
              <a:t>Inventory Alignment:</a:t>
            </a:r>
            <a:r>
              <a:rPr lang="en-IN" sz="1600" dirty="0"/>
              <a:t> Prioritize stock allocation for high-margin Electronics and essential Education supplies to ensure zero out-of-stock events for VIPs.</a:t>
            </a:r>
          </a:p>
          <a:p>
            <a:pPr lvl="0"/>
            <a:endParaRPr lang="en-IN" sz="1600" b="1" dirty="0"/>
          </a:p>
          <a:p>
            <a:pPr lvl="0"/>
            <a:r>
              <a:rPr lang="en-IN" sz="1600" b="1" dirty="0"/>
              <a:t>Geo-Targeted Offers:</a:t>
            </a:r>
            <a:r>
              <a:rPr lang="en-IN" sz="1600" dirty="0"/>
              <a:t> Leverage demographic parity across cities like Bengaluru, Patna, and Mumbai with tailored localized promotions.</a:t>
            </a: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4A8A5A-8810-18F5-58A6-C60D1C9F7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749" y="2391656"/>
            <a:ext cx="4639850" cy="309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72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89546-C4C3-C064-BE03-99B084128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F074-2899-B026-E6CB-17CFF72E7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Hypothesis Testing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128C0E-B6AD-5373-0AEF-0FE9D1D60C65}"/>
              </a:ext>
            </a:extLst>
          </p:cNvPr>
          <p:cNvSpPr txBox="1"/>
          <p:nvPr/>
        </p:nvSpPr>
        <p:spPr>
          <a:xfrm>
            <a:off x="1507367" y="2278193"/>
            <a:ext cx="917726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T-Test (Champions vs. At-Risk Customers)</a:t>
            </a:r>
          </a:p>
          <a:p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Result:</a:t>
            </a:r>
            <a:r>
              <a:rPr lang="en-IN" sz="1600" dirty="0"/>
              <a:t> Statistically significant difference in average order values (p &lt; 0.05).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Business Interpretation:</a:t>
            </a:r>
            <a:r>
              <a:rPr lang="en-IN" sz="1600" dirty="0"/>
              <a:t> High-value Champions spend far more per order than At-Risk customers. Retaining Champions is critical, as losing even a small portion of them severely impacts revenue.</a:t>
            </a:r>
          </a:p>
          <a:p>
            <a:endParaRPr lang="en-IN" sz="1600" b="1" dirty="0"/>
          </a:p>
          <a:p>
            <a:r>
              <a:rPr lang="en-IN" sz="1600" b="1" dirty="0"/>
              <a:t>Chi-Square Test (Category vs. Region)</a:t>
            </a:r>
          </a:p>
          <a:p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Result:</a:t>
            </a:r>
            <a:r>
              <a:rPr lang="en-IN" sz="1600" dirty="0"/>
              <a:t> No significant dependency (p &gt; 0.05).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Business Interpretation:</a:t>
            </a:r>
            <a:r>
              <a:rPr lang="en-IN" sz="1600" dirty="0"/>
              <a:t> Product category purchasing is independent of region. Marketing and inventory strategies can be standardized across cities without regional bias.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7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298C56-5258-AE38-014C-6223A88FD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35CF-C23D-55B2-CB48-3C6740F1A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Actionable Business Recommendations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F9D468-3622-C612-64DB-EC3628A03C74}"/>
              </a:ext>
            </a:extLst>
          </p:cNvPr>
          <p:cNvSpPr/>
          <p:nvPr/>
        </p:nvSpPr>
        <p:spPr>
          <a:xfrm>
            <a:off x="961512" y="2614001"/>
            <a:ext cx="3371920" cy="2671432"/>
          </a:xfrm>
          <a:prstGeom prst="rect">
            <a:avLst/>
          </a:prstGeom>
          <a:solidFill>
            <a:schemeClr val="accent1">
              <a:lumMod val="20000"/>
              <a:lumOff val="80000"/>
              <a:alpha val="65000"/>
            </a:schemeClr>
          </a:solidFill>
          <a:ln>
            <a:solidFill>
              <a:schemeClr val="accent1"/>
            </a:solidFill>
          </a:ln>
          <a:effectLst>
            <a:softEdge rad="508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C248FD-90A3-8B0B-B839-A5BDF9D85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040" y="2550484"/>
            <a:ext cx="3371920" cy="26714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1E5E6B-CF4A-E23B-CDC6-9689448BB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568" y="2614001"/>
            <a:ext cx="3371920" cy="26714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0BE683-FE9B-A814-71CC-43DF59B8124A}"/>
              </a:ext>
            </a:extLst>
          </p:cNvPr>
          <p:cNvSpPr txBox="1"/>
          <p:nvPr/>
        </p:nvSpPr>
        <p:spPr>
          <a:xfrm>
            <a:off x="1215431" y="3408902"/>
            <a:ext cx="31180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/>
              <a:t>VIP Loyalty Tier</a:t>
            </a:r>
          </a:p>
          <a:p>
            <a:r>
              <a:rPr lang="en-IN" sz="1500" dirty="0"/>
              <a:t>Establish a dedicated VIP concierge program offering priority shipping, custom bundling, and early access to high-demand Electronics launches for High-Value Champions.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3EE345-2C80-1BF7-1A0B-F3B3F2444720}"/>
              </a:ext>
            </a:extLst>
          </p:cNvPr>
          <p:cNvSpPr txBox="1"/>
          <p:nvPr/>
        </p:nvSpPr>
        <p:spPr>
          <a:xfrm>
            <a:off x="4587351" y="3408902"/>
            <a:ext cx="2984360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/>
              <a:t>Win-Back Campaigns</a:t>
            </a:r>
          </a:p>
          <a:p>
            <a:r>
              <a:rPr lang="en-IN" sz="1500" dirty="0"/>
              <a:t>Deploy automated email/SMS win-back workflows with customized discount codes targeting At-Risk customers who haven't ordered in 90+ days.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DD49D0-1A49-1D4F-4417-49FC7CDACB0C}"/>
              </a:ext>
            </a:extLst>
          </p:cNvPr>
          <p:cNvSpPr txBox="1"/>
          <p:nvPr/>
        </p:nvSpPr>
        <p:spPr>
          <a:xfrm>
            <a:off x="8029036" y="3408902"/>
            <a:ext cx="303098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/>
              <a:t>Cross-Category Bundling</a:t>
            </a:r>
          </a:p>
          <a:p>
            <a:r>
              <a:rPr lang="en-IN" sz="1500" dirty="0"/>
              <a:t>Incentivize lower-spending buyers to increase basket size by pairing high-frequency Grocery products with high-margin Fashion or Education items.</a:t>
            </a:r>
          </a:p>
          <a:p>
            <a:endParaRPr lang="en-IN" dirty="0"/>
          </a:p>
        </p:txBody>
      </p:sp>
      <p:pic>
        <p:nvPicPr>
          <p:cNvPr id="15" name="Graphic 14" descr="Crown with solid fill">
            <a:extLst>
              <a:ext uri="{FF2B5EF4-FFF2-40B4-BE49-F238E27FC236}">
                <a16:creationId xmlns:a16="http://schemas.microsoft.com/office/drawing/2014/main" id="{1E82AC0C-A4A2-66E7-B4AE-72E6E127D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400" y="2736539"/>
            <a:ext cx="672363" cy="672363"/>
          </a:xfrm>
          <a:prstGeom prst="rect">
            <a:avLst/>
          </a:prstGeom>
        </p:spPr>
      </p:pic>
      <p:pic>
        <p:nvPicPr>
          <p:cNvPr id="21" name="Graphic 20" descr="Arrow circle with solid fill">
            <a:extLst>
              <a:ext uri="{FF2B5EF4-FFF2-40B4-BE49-F238E27FC236}">
                <a16:creationId xmlns:a16="http://schemas.microsoft.com/office/drawing/2014/main" id="{00F730DB-D87F-34CF-D5FE-80EA281252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6344" y="2750712"/>
            <a:ext cx="663075" cy="663075"/>
          </a:xfrm>
          <a:prstGeom prst="rect">
            <a:avLst/>
          </a:prstGeom>
        </p:spPr>
      </p:pic>
      <p:pic>
        <p:nvPicPr>
          <p:cNvPr id="25" name="Graphic 24" descr="Bar graph with upward trend with solid fill">
            <a:extLst>
              <a:ext uri="{FF2B5EF4-FFF2-40B4-BE49-F238E27FC236}">
                <a16:creationId xmlns:a16="http://schemas.microsoft.com/office/drawing/2014/main" id="{5A9961A4-EECA-5920-75A2-63FB6F03AF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2181" y="2849198"/>
            <a:ext cx="559703" cy="55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2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Analytics Roadmap &amp; Next Steps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65D2F3-E722-C9E3-29D8-B99D2D740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213" y="2136926"/>
            <a:ext cx="3383573" cy="26824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80EC31-8C02-5F5A-1B16-8615295EE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786" y="2136926"/>
            <a:ext cx="3383573" cy="26824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D69FD8-73F7-CC68-B527-84A389E54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40" y="2186087"/>
            <a:ext cx="3383573" cy="26824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AED7BD-80D3-D260-8FC7-9BF4031D552D}"/>
              </a:ext>
            </a:extLst>
          </p:cNvPr>
          <p:cNvSpPr txBox="1"/>
          <p:nvPr/>
        </p:nvSpPr>
        <p:spPr>
          <a:xfrm>
            <a:off x="1295400" y="2467902"/>
            <a:ext cx="298900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RFM </a:t>
            </a:r>
            <a:r>
              <a:rPr lang="en-IN" b="1" dirty="0" err="1"/>
              <a:t>Modeling</a:t>
            </a:r>
            <a:endParaRPr lang="en-IN" b="1" dirty="0"/>
          </a:p>
          <a:p>
            <a:endParaRPr lang="en-IN" b="1" dirty="0"/>
          </a:p>
          <a:p>
            <a:r>
              <a:rPr lang="en-IN" sz="1600" dirty="0"/>
              <a:t>Implement formal Recency, Frequency, &amp; Monetary scorecards in Python for dynamic customer cluster tagging in real-time CRM updates.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230891-73B0-D3B4-72B1-BD8459588D39}"/>
              </a:ext>
            </a:extLst>
          </p:cNvPr>
          <p:cNvSpPr txBox="1"/>
          <p:nvPr/>
        </p:nvSpPr>
        <p:spPr>
          <a:xfrm>
            <a:off x="4678973" y="2186087"/>
            <a:ext cx="298900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b="1" dirty="0"/>
            </a:br>
            <a:r>
              <a:rPr lang="en-IN" b="1" dirty="0"/>
              <a:t>CLV Prediction</a:t>
            </a:r>
          </a:p>
          <a:p>
            <a:endParaRPr lang="en-IN" b="1" dirty="0"/>
          </a:p>
          <a:p>
            <a:r>
              <a:rPr lang="en-IN" sz="1600" dirty="0"/>
              <a:t>Build predictive Customer Lifetime Value models to forecast 12-month revenue pipelines based on initial onboarding purchase patterns.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A8E7B8-6B5E-A0A7-7EE6-D3FAB78A9CAC}"/>
              </a:ext>
            </a:extLst>
          </p:cNvPr>
          <p:cNvSpPr txBox="1"/>
          <p:nvPr/>
        </p:nvSpPr>
        <p:spPr>
          <a:xfrm>
            <a:off x="8062546" y="2467902"/>
            <a:ext cx="293509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PowerBI</a:t>
            </a:r>
            <a:r>
              <a:rPr lang="en-IN" b="1" dirty="0"/>
              <a:t> Integration</a:t>
            </a:r>
          </a:p>
          <a:p>
            <a:endParaRPr lang="en-IN" b="1" dirty="0"/>
          </a:p>
          <a:p>
            <a:r>
              <a:rPr lang="en-IN" sz="1600" dirty="0"/>
              <a:t>Automate live executive dashboards connecting directly to transactional data stores for continuous monitoring of category health.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601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3"/>
            <a:ext cx="9718284" cy="643771"/>
          </a:xfrm>
        </p:spPr>
        <p:txBody>
          <a:bodyPr>
            <a:normAutofit/>
          </a:bodyPr>
          <a:lstStyle/>
          <a:p>
            <a:r>
              <a:rPr lang="en-IN" sz="1600" dirty="0"/>
              <a:t>Targeting customer segments by revenue potential and proactively safeguarding at-risk buyers ensures sustainable, long-term business growth.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216</TotalTime>
  <Words>814</Words>
  <Application>Microsoft Office PowerPoint</Application>
  <PresentationFormat>Widescreen</PresentationFormat>
  <Paragraphs>96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Google Sans Text</vt:lpstr>
      <vt:lpstr>Wingdings</vt:lpstr>
      <vt:lpstr>Diamond Grid 16x9</vt:lpstr>
      <vt:lpstr>Customer Segmentation &amp; Revenue Drivers</vt:lpstr>
      <vt:lpstr>Problem Statement &amp; Purpose</vt:lpstr>
      <vt:lpstr>Dataset Overview &amp; Key Metrics</vt:lpstr>
      <vt:lpstr>Demographic Revenue Drivers</vt:lpstr>
      <vt:lpstr>Category Revenue Contribution</vt:lpstr>
      <vt:lpstr>High-Value vs. At-Risk Customers</vt:lpstr>
      <vt:lpstr>Revenue Concentration Principle</vt:lpstr>
      <vt:lpstr>Retention Strategy Roadmap</vt:lpstr>
      <vt:lpstr>Hypothesis Testing Summary</vt:lpstr>
      <vt:lpstr>Actionable Business Recommendations</vt:lpstr>
      <vt:lpstr>Analytics Roadmap &amp; Next Steps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masutisuman@outlook.com</dc:creator>
  <cp:lastModifiedBy>masutisuman@outlook.com</cp:lastModifiedBy>
  <cp:revision>1</cp:revision>
  <dcterms:created xsi:type="dcterms:W3CDTF">2026-08-16T14:29:11Z</dcterms:created>
  <dcterms:modified xsi:type="dcterms:W3CDTF">2026-08-31T14:11:45Z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